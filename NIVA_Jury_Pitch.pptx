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3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097280" cy="45720"/>
          </a:xfrm>
          <a:prstGeom prst="roundRect">
            <a:avLst/>
          </a:prstGeom>
          <a:solidFill>
            <a:srgbClr val="8EF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8EF244"/>
                </a:solidFill>
                <a:latin typeface="Calibri"/>
              </a:defRPr>
            </a:pPr>
            <a:r>
              <a:t>RBI ACCOUNT AGGREGATOR  •  DPDP ACT 2023  •  REBIT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NIVA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3C8B9"/>
                </a:solidFill>
                <a:latin typeface="Calibri"/>
              </a:defRPr>
            </a:pPr>
            <a:r>
              <a:t>Nurturing Intelligent Value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Responsible Financial Intelligence for Bharat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6400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3C8B9"/>
                </a:solidFill>
                <a:latin typeface="Calibri"/>
              </a:defRPr>
            </a:pPr>
            <a:r>
              <a:t>Bridging the 38-day credit blind spot for 400M+ Indians — from insight to action at the moment of payment.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640080"/>
            <a:ext cx="402336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914400"/>
            <a:ext cx="3383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74796C"/>
                </a:solidFill>
                <a:latin typeface="Calibri"/>
              </a:defRPr>
            </a:pPr>
            <a:r>
              <a:t>●  LIVE DEMO  •  API 8001  •  WEB 3001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23444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63300"/>
                </a:solidFill>
                <a:latin typeface="Calibri"/>
              </a:defRPr>
            </a:pPr>
            <a:r>
              <a:t>Income Firewall 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60020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4796C"/>
                </a:solidFill>
                <a:latin typeface="Calibri"/>
              </a:defRPr>
            </a:pPr>
            <a:r>
              <a:t>3 Pots  •  Family Twin  •  Checkout Copilot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057400"/>
            <a:ext cx="3383280" cy="457200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210312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74796C"/>
                </a:solidFill>
                <a:latin typeface="Calibri"/>
              </a:defRPr>
            </a:pPr>
            <a:r>
              <a:t>Predatory Blocks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0312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E11D48"/>
                </a:solidFill>
                <a:latin typeface="Calibri"/>
              </a:defRPr>
            </a:pPr>
            <a:r>
              <a:t>Blocked TODAY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624328"/>
            <a:ext cx="3383280" cy="457200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670048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74796C"/>
                </a:solidFill>
                <a:latin typeface="Calibri"/>
              </a:defRPr>
            </a:pPr>
            <a:r>
              <a:t>Interest Saved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670048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00A859"/>
                </a:solidFill>
                <a:latin typeface="Calibri"/>
              </a:defRPr>
            </a:pPr>
            <a:r>
              <a:t>₹ 1.2L+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3191256"/>
            <a:ext cx="3383280" cy="457200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3236976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74796C"/>
                </a:solidFill>
                <a:latin typeface="Calibri"/>
              </a:defRPr>
            </a:pPr>
            <a:r>
              <a:t>Blind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236976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163300"/>
                </a:solidFill>
                <a:latin typeface="Calibri"/>
              </a:defRPr>
            </a:pPr>
            <a:r>
              <a:t>38 days →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794760"/>
            <a:ext cx="3383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74796C"/>
                </a:solidFill>
                <a:latin typeface="Calibri"/>
              </a:defRPr>
            </a:pPr>
            <a:r>
              <a:t>Wise-grade • Spring animations • Bottom nav • Tabular-nums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0352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9AA88E"/>
                </a:solidFill>
                <a:latin typeface="Calibri"/>
              </a:defRPr>
            </a:pPr>
            <a:r>
              <a:t>Team NIVA  •  Hackathon Jury Pitch  •  September 2026  •  One tap from phone number to Financial Twin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303520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8EF244"/>
                </a:solidFill>
                <a:latin typeface="Calibri"/>
              </a:defRPr>
            </a:pPr>
            <a:r>
              <a:t>Scan QR to try:  upi://pay?pa=shop@okhdfc&amp;am=48000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63040" cy="256032"/>
          </a:xfrm>
          <a:prstGeom prst="roundRect">
            <a:avLst/>
          </a:prstGeom>
          <a:solidFill>
            <a:srgbClr val="EEF2E8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01  •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63300"/>
                </a:solidFill>
                <a:latin typeface="Calibri"/>
              </a:defRPr>
            </a:pPr>
            <a:r>
              <a:t>Why Bharat Needs NIVA — The 38-Day Blind Spot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4796C"/>
                </a:solidFill>
                <a:latin typeface="Calibri"/>
              </a:defRPr>
            </a:pPr>
            <a:r>
              <a:t>CIBIL says 760. Bank account says 14 days runway left. Who do you trust?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5204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502920" cy="502920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63300"/>
                </a:solidFill>
                <a:latin typeface="Calibri"/>
              </a:defRPr>
            </a:pPr>
            <a:r>
              <a:t>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488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3300"/>
                </a:solidFill>
                <a:latin typeface="Calibri"/>
              </a:defRPr>
            </a:pPr>
            <a:r>
              <a:t>Bureau Lag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1125"/>
              </a:lnSpc>
              <a:spcBef>
                <a:spcPts val="0"/>
              </a:spcBef>
              <a:spcAft>
                <a:spcPts val="100"/>
              </a:spcAft>
              <a:defRPr sz="900" b="0" i="0">
                <a:solidFill>
                  <a:srgbClr val="74796C"/>
                </a:solidFill>
                <a:latin typeface="Calibri"/>
              </a:defRPr>
            </a:pPr>
            <a:r>
              <a:t>Traditional bureau updates every 38 days.</a:t>
            </a:r>
          </a:p>
          <a:p>
            <a:pPr algn="l">
              <a:lnSpc>
                <a:spcPts val="1125"/>
              </a:lnSpc>
              <a:spcBef>
                <a:spcPts val="0"/>
              </a:spcBef>
              <a:spcAft>
                <a:spcPts val="100"/>
              </a:spcAft>
              <a:defRPr sz="900" b="0" i="0">
                <a:solidFill>
                  <a:srgbClr val="74796C"/>
                </a:solidFill>
                <a:latin typeface="Calibri"/>
              </a:defRPr>
            </a:pPr>
            <a:r>
              <a:t>Misses -38% drawdown velocity &amp; +42%</a:t>
            </a:r>
          </a:p>
          <a:p>
            <a:pPr algn="l">
              <a:lnSpc>
                <a:spcPts val="1125"/>
              </a:lnSpc>
              <a:spcBef>
                <a:spcPts val="0"/>
              </a:spcBef>
              <a:spcAft>
                <a:spcPts val="100"/>
              </a:spcAft>
              <a:defRPr sz="900" b="0" i="0">
                <a:solidFill>
                  <a:srgbClr val="74796C"/>
                </a:solidFill>
                <a:latin typeface="Calibri"/>
              </a:defRPr>
            </a:pPr>
            <a:r>
              <a:t>revolving spike in last 21 days.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160520"/>
            <a:ext cx="3063240" cy="38404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D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60520"/>
            <a:ext cx="3063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E11D48"/>
                </a:solidFill>
                <a:latin typeface="Calibri"/>
              </a:defRPr>
            </a:pPr>
            <a:r>
              <a:t>3.4× delinquency hidden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74519"/>
            <a:ext cx="35204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2103120"/>
            <a:ext cx="502920" cy="502920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0312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63300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1488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3300"/>
                </a:solidFill>
                <a:latin typeface="Calibri"/>
              </a:defRPr>
            </a:pPr>
            <a:r>
              <a:t>Predatory Credit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4320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1125"/>
              </a:lnSpc>
              <a:spcBef>
                <a:spcPts val="0"/>
              </a:spcBef>
              <a:spcAft>
                <a:spcPts val="100"/>
              </a:spcAft>
              <a:defRPr sz="900" b="0" i="0">
                <a:solidFill>
                  <a:srgbClr val="74796C"/>
                </a:solidFill>
                <a:latin typeface="Calibri"/>
              </a:defRPr>
            </a:pPr>
            <a:r>
              <a:t>Stressed Kirana &amp; gig workers pushed</a:t>
            </a:r>
          </a:p>
          <a:p>
            <a:pPr algn="l">
              <a:lnSpc>
                <a:spcPts val="1125"/>
              </a:lnSpc>
              <a:spcBef>
                <a:spcPts val="0"/>
              </a:spcBef>
              <a:spcAft>
                <a:spcPts val="100"/>
              </a:spcAft>
              <a:defRPr sz="900" b="0" i="0">
                <a:solidFill>
                  <a:srgbClr val="74796C"/>
                </a:solidFill>
                <a:latin typeface="Calibri"/>
              </a:defRPr>
            </a:pPr>
            <a:r>
              <a:t>36% payday loans when DTI &gt;40%.</a:t>
            </a:r>
          </a:p>
          <a:p>
            <a:pPr algn="l">
              <a:lnSpc>
                <a:spcPts val="1125"/>
              </a:lnSpc>
              <a:spcBef>
                <a:spcPts val="0"/>
              </a:spcBef>
              <a:spcAft>
                <a:spcPts val="100"/>
              </a:spcAft>
              <a:defRPr sz="900" b="0" i="0">
                <a:solidFill>
                  <a:srgbClr val="74796C"/>
                </a:solidFill>
                <a:latin typeface="Calibri"/>
              </a:defRPr>
            </a:pPr>
            <a:r>
              <a:t>NPA multiplies, households collapse.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160520"/>
            <a:ext cx="3063240" cy="38404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D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160520"/>
            <a:ext cx="3063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E11D48"/>
                </a:solidFill>
                <a:latin typeface="Calibri"/>
              </a:defRPr>
            </a:pPr>
            <a:r>
              <a:t>₹ 40,840 interest trap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874519"/>
            <a:ext cx="35204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66760" y="2103120"/>
            <a:ext cx="502920" cy="502920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10312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63300"/>
                </a:solidFill>
                <a:latin typeface="Calibri"/>
              </a:defRPr>
            </a:pPr>
            <a:r>
              <a:t>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1488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3300"/>
                </a:solidFill>
                <a:latin typeface="Calibri"/>
              </a:defRPr>
            </a:pPr>
            <a:r>
              <a:t>No Household 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74320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1125"/>
              </a:lnSpc>
              <a:spcBef>
                <a:spcPts val="0"/>
              </a:spcBef>
              <a:spcAft>
                <a:spcPts val="100"/>
              </a:spcAft>
              <a:defRPr sz="900" b="0" i="0">
                <a:solidFill>
                  <a:srgbClr val="74796C"/>
                </a:solidFill>
                <a:latin typeface="Calibri"/>
              </a:defRPr>
            </a:pPr>
            <a:r>
              <a:t>Finance is family in Bharat:</a:t>
            </a:r>
          </a:p>
          <a:p>
            <a:pPr algn="l">
              <a:lnSpc>
                <a:spcPts val="1125"/>
              </a:lnSpc>
              <a:spcBef>
                <a:spcPts val="0"/>
              </a:spcBef>
              <a:spcAft>
                <a:spcPts val="100"/>
              </a:spcAft>
              <a:defRPr sz="900" b="0" i="0">
                <a:solidFill>
                  <a:srgbClr val="74796C"/>
                </a:solidFill>
                <a:latin typeface="Calibri"/>
              </a:defRPr>
            </a:pPr>
            <a:r>
              <a:t>shop + spouse savings + school fees</a:t>
            </a:r>
          </a:p>
          <a:p>
            <a:pPr algn="l">
              <a:lnSpc>
                <a:spcPts val="1125"/>
              </a:lnSpc>
              <a:spcBef>
                <a:spcPts val="0"/>
              </a:spcBef>
              <a:spcAft>
                <a:spcPts val="100"/>
              </a:spcAft>
              <a:defRPr sz="900" b="0" i="0">
                <a:solidFill>
                  <a:srgbClr val="74796C"/>
                </a:solidFill>
                <a:latin typeface="Calibri"/>
              </a:defRPr>
            </a:pPr>
            <a:r>
              <a:t>= one DTI, not three.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4160520"/>
            <a:ext cx="3063240" cy="38404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D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160520"/>
            <a:ext cx="3063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E11D48"/>
                </a:solidFill>
                <a:latin typeface="Calibri"/>
              </a:defRPr>
            </a:pPr>
            <a:r>
              <a:t>400M joint families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715000"/>
            <a:ext cx="11064240" cy="59436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852160"/>
            <a:ext cx="10607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EF244"/>
                </a:solidFill>
                <a:latin typeface="Calibri"/>
              </a:defRPr>
            </a:pPr>
            <a:r>
              <a:t>Insight → Banks underwrite on stale data. NIVA underwrites on live ReBIT telemetry — AA + Pots + Family in one Twin.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63040" cy="256032"/>
          </a:xfrm>
          <a:prstGeom prst="roundRect">
            <a:avLst/>
          </a:prstGeom>
          <a:solidFill>
            <a:srgbClr val="EEF2E8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02  •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63300"/>
                </a:solidFill>
                <a:latin typeface="Calibri"/>
              </a:defRPr>
            </a:pPr>
            <a:r>
              <a:t>NIVA = Twin + Gate +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4796C"/>
                </a:solidFill>
                <a:latin typeface="Calibri"/>
              </a:defRPr>
            </a:pPr>
            <a:r>
              <a:t>Not a dashboard. An Income Firewall OS — deterministic, explainable, vernacular.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5204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520440" cy="54864"/>
          </a:xfrm>
          <a:prstGeom prst="round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00A859"/>
                </a:solidFill>
                <a:latin typeface="Calibri"/>
              </a:defRPr>
            </a:pPr>
            <a:r>
              <a:t>TWIN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3063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3300"/>
                </a:solidFill>
                <a:latin typeface="Calibri"/>
              </a:defRPr>
            </a:pPr>
            <a:r>
              <a:t>Financial Digital Twin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1062"/>
              </a:lnSpc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74796C"/>
                </a:solidFill>
                <a:latin typeface="Calibri"/>
              </a:defRPr>
            </a:pPr>
            <a:r>
              <a:t>Health 0-100 • DTI • Buffer (mo) • Stress factors</a:t>
            </a:r>
          </a:p>
          <a:p>
            <a:pPr algn="l">
              <a:lnSpc>
                <a:spcPts val="1062"/>
              </a:lnSpc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74796C"/>
                </a:solidFill>
                <a:latin typeface="Calibri"/>
              </a:defRPr>
            </a:pPr>
            <a:r>
              <a:t>Deterministic ReBIT arithmetic — zero hallucination.</a:t>
            </a:r>
          </a:p>
          <a:p>
            <a:pPr algn="l">
              <a:lnSpc>
                <a:spcPts val="1062"/>
              </a:lnSpc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74796C"/>
                </a:solidFill>
                <a:latin typeface="Calibri"/>
              </a:defRPr>
            </a:pPr>
            <a:r>
              <a:t>Live from AA / SMS / Statement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5204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3520440" cy="5486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E11D48"/>
                </a:solidFill>
                <a:latin typeface="Calibri"/>
              </a:defRPr>
            </a:pPr>
            <a:r>
              <a:t>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31720"/>
            <a:ext cx="3063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3300"/>
                </a:solidFill>
                <a:latin typeface="Calibri"/>
              </a:defRPr>
            </a:pPr>
            <a:r>
              <a:t>Responsible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974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1062"/>
              </a:lnSpc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74796C"/>
                </a:solidFill>
                <a:latin typeface="Calibri"/>
              </a:defRPr>
            </a:pPr>
            <a:r>
              <a:t>POL-402: block 36% loan if DTI&gt;40% or stress&gt;55</a:t>
            </a:r>
          </a:p>
          <a:p>
            <a:pPr algn="l">
              <a:lnSpc>
                <a:spcPts val="1062"/>
              </a:lnSpc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74796C"/>
                </a:solidFill>
                <a:latin typeface="Calibri"/>
              </a:defRPr>
            </a:pPr>
            <a:r>
              <a:t>+340% risk if suppressed → divert, not nudge.</a:t>
            </a:r>
          </a:p>
          <a:p>
            <a:pPr algn="l">
              <a:lnSpc>
                <a:spcPts val="1062"/>
              </a:lnSpc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74796C"/>
                </a:solidFill>
                <a:latin typeface="Calibri"/>
              </a:defRPr>
            </a:pPr>
            <a:r>
              <a:t>Merkle-hashed for RBI audit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74519"/>
            <a:ext cx="35204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1874519"/>
            <a:ext cx="3520440" cy="54864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103120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163300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31720"/>
            <a:ext cx="3063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3300"/>
                </a:solidFill>
                <a:latin typeface="Calibri"/>
              </a:defRPr>
            </a:pPr>
            <a:r>
              <a:t>At Payment + In Pots + In Family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6974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1062"/>
              </a:lnSpc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74796C"/>
                </a:solidFill>
                <a:latin typeface="Calibri"/>
              </a:defRPr>
            </a:pPr>
            <a:r>
              <a:t>Checkout Copilot: 2-sec YES/NO on upi://</a:t>
            </a:r>
          </a:p>
          <a:p>
            <a:pPr algn="l">
              <a:lnSpc>
                <a:spcPts val="1062"/>
              </a:lnSpc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74796C"/>
                </a:solidFill>
                <a:latin typeface="Calibri"/>
              </a:defRPr>
            </a:pPr>
            <a:r>
              <a:t>Pots auto-sweep/release vs loan</a:t>
            </a:r>
          </a:p>
          <a:p>
            <a:pPr algn="l">
              <a:lnSpc>
                <a:spcPts val="1062"/>
              </a:lnSpc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74796C"/>
                </a:solidFill>
                <a:latin typeface="Calibri"/>
              </a:defRPr>
            </a:pPr>
            <a:r>
              <a:t>Household buffer &amp; school-fee alerts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74920"/>
            <a:ext cx="11064240" cy="731520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12080"/>
            <a:ext cx="10607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63300"/>
                </a:solidFill>
                <a:latin typeface="Calibri"/>
              </a:defRPr>
            </a:pPr>
            <a:r>
              <a:t>USP  →  Only product that says NO to revenue to save the user — and gives money from Pots instead.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486400"/>
            <a:ext cx="10607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4796C"/>
                </a:solidFill>
                <a:latin typeface="Calibri"/>
              </a:defRPr>
            </a:pPr>
            <a:r>
              <a:t>Every verdict: SHAP-explained + Merkle-hashed + vernacular (EN / हिंदी / ગુજરાતી) + voice TTS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63040" cy="256032"/>
          </a:xfrm>
          <a:prstGeom prst="roundRect">
            <a:avLst/>
          </a:prstGeom>
          <a:solidFill>
            <a:srgbClr val="EEF2E8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03  •  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63300"/>
                </a:solidFill>
                <a:latin typeface="Calibri"/>
              </a:defRPr>
            </a:pPr>
            <a:r>
              <a:t>From Phone Number to Twin in 60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74796C"/>
                </a:solidFill>
                <a:latin typeface="Calibri"/>
              </a:defRPr>
            </a:pPr>
            <a:r>
              <a:t>Frictionless, DPDP-compliant, real data via SMS or AA — no persona picker for real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83080" y="2606040"/>
            <a:ext cx="548640" cy="36576"/>
          </a:xfrm>
          <a:prstGeom prst="roundRect">
            <a:avLst/>
          </a:prstGeom>
          <a:solidFill>
            <a:srgbClr val="E2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1234440" cy="123444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8EF244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051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Phone OTP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1234440" cy="868680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1051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+91  •  6-digit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JWT httpOnly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5-min TTL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606040"/>
            <a:ext cx="548640" cy="36576"/>
          </a:xfrm>
          <a:prstGeom prst="roundRect">
            <a:avLst/>
          </a:prstGeom>
          <a:solidFill>
            <a:srgbClr val="E2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31720" y="2331720"/>
            <a:ext cx="1234440" cy="123444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237744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8EF24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788920"/>
            <a:ext cx="1051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Ingest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3703320"/>
            <a:ext cx="1234440" cy="868680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3794760"/>
            <a:ext cx="1051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SMS-to-Twin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Upload Statement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Live Setu AA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2606040"/>
            <a:ext cx="548640" cy="36576"/>
          </a:xfrm>
          <a:prstGeom prst="roundRect">
            <a:avLst/>
          </a:prstGeom>
          <a:solidFill>
            <a:srgbClr val="E2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14800" y="2331720"/>
            <a:ext cx="1234440" cy="123444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237744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8EF24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788920"/>
            <a:ext cx="1051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DPDP Vault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3703320"/>
            <a:ext cx="1234440" cy="868680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3794760"/>
            <a:ext cx="1051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FI Types • 6M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Revoke 1-click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Merkle proof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2606040"/>
            <a:ext cx="548640" cy="36576"/>
          </a:xfrm>
          <a:prstGeom prst="roundRect">
            <a:avLst/>
          </a:prstGeom>
          <a:solidFill>
            <a:srgbClr val="E2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897880" y="2331720"/>
            <a:ext cx="1234440" cy="123444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237744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8EF24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788920"/>
            <a:ext cx="1051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Twin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3703320"/>
            <a:ext cx="1234440" cy="868680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3794760"/>
            <a:ext cx="1051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Health/DTI/Buffer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Bureau vs AA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SHAP drivers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400" y="2606040"/>
            <a:ext cx="548640" cy="36576"/>
          </a:xfrm>
          <a:prstGeom prst="roundRect">
            <a:avLst/>
          </a:prstGeom>
          <a:solidFill>
            <a:srgbClr val="E2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80960" y="2331720"/>
            <a:ext cx="1234440" cy="123444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237744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8EF244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2788920"/>
            <a:ext cx="1051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Pots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3703320"/>
            <a:ext cx="1234440" cy="868680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3794760"/>
            <a:ext cx="1051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Emergency/Rent/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Dukaan • Autopilot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2331720"/>
            <a:ext cx="1234440" cy="123444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64040" y="237744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8EF244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2788920"/>
            <a:ext cx="1051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Checkout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64040" y="3703320"/>
            <a:ext cx="1234440" cy="868680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5480" y="3794760"/>
            <a:ext cx="1051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upi:// am=48k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YES/NO + Gate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Pots alternative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892040"/>
            <a:ext cx="11064240" cy="640080"/>
          </a:xfrm>
          <a:prstGeom prst="roundRect">
            <a:avLst/>
          </a:prstGeom>
          <a:solidFill>
            <a:srgbClr val="EEF2E8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029200"/>
            <a:ext cx="10607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163300"/>
                </a:solidFill>
                <a:latin typeface="Calibri"/>
              </a:defRPr>
            </a:pPr>
            <a:r>
              <a:t>Real data priority: SMS (10 sec, any phone)  →  Statement (ReBIT 1.1 proof)  →  Setu AA (most authentic, requires FIU approval for arbitrary users)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303520"/>
            <a:ext cx="10607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74796C"/>
                </a:solidFill>
                <a:latin typeface="Calibri"/>
              </a:defRPr>
            </a:pPr>
            <a:r>
              <a:t>Demo fallback: ?dev=1 shows persona picker (Rajesh / Anita / Vikram) — never the default for real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63040" cy="256032"/>
          </a:xfrm>
          <a:prstGeom prst="roundRect">
            <a:avLst/>
          </a:prstGeom>
          <a:solidFill>
            <a:srgbClr val="EEF2E8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04  •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63300"/>
                </a:solidFill>
                <a:latin typeface="Calibri"/>
              </a:defRPr>
            </a:pPr>
            <a:r>
              <a:t>Architecture — Deterministic Core, Wise-Grade 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4796C"/>
                </a:solidFill>
                <a:latin typeface="Calibri"/>
              </a:defRPr>
            </a:pPr>
            <a:r>
              <a:t>FastAPI + Next.js 16 (Turbopack) • Postgres/Redis via Docker • SQLite fallback • Gemini 2.0 Flash with tool-calling, never hallucinates numbers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291840" cy="3931920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2926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74796C"/>
                </a:solidFill>
                <a:latin typeface="Calibri"/>
              </a:defRPr>
            </a:pPr>
            <a:r>
              <a:t>INGESTION  •  REBIT 1.1 NORMALIZER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63300"/>
                </a:solidFill>
                <a:latin typeface="Calibri"/>
              </a:defRPr>
            </a:pPr>
            <a:r>
              <a:t>📱 OTP + JWT (auth.py)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63300"/>
                </a:solidFill>
                <a:latin typeface="Calibri"/>
              </a:defRPr>
            </a:pPr>
            <a:r>
              <a:t>💬 SMS-to-Twin (sms_parser)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80944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63300"/>
                </a:solidFill>
                <a:latin typeface="Calibri"/>
              </a:defRPr>
            </a:pPr>
            <a:r>
              <a:t>📄 Statement CSV/XLSX/PDF (pdfplumber)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28416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63300"/>
                </a:solidFill>
                <a:latin typeface="Calibri"/>
              </a:defRPr>
            </a:pPr>
            <a:r>
              <a:t>🔗 Setu Bridge (mock | live setu)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75888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63300"/>
                </a:solidFill>
                <a:latin typeface="Calibri"/>
              </a:defRPr>
            </a:pPr>
            <a:r>
              <a:t>👥 Demo Personas (Rajesh/Anita/Vikram)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828800"/>
            <a:ext cx="3840480" cy="393192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965960"/>
            <a:ext cx="3383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8EF244"/>
                </a:solidFill>
                <a:latin typeface="Calibri"/>
              </a:defRPr>
            </a:pPr>
            <a:r>
              <a:t>CORE  •  DETERMINISTIC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Twin Service: health/DTI/buffer/stress (6-dim)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33472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Gate Service: POL-402/301/204 + DPDP-SEC6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980944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ML: XGBoost+SHAP • IsolationForest • RF Lifestage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328416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Pots Firewall • Family Twin • Checkout 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675888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Merkle Audit Trail (SHA256 chain)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828800"/>
            <a:ext cx="32918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965960"/>
            <a:ext cx="2834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74796C"/>
                </a:solidFill>
                <a:latin typeface="Calibri"/>
              </a:defRPr>
            </a:pPr>
            <a:r>
              <a:t>FRONTENDS  •  WISE-GRADE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2860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63300"/>
                </a:solidFill>
                <a:latin typeface="Calibri"/>
              </a:defRPr>
            </a:pPr>
            <a:r>
              <a:t>Customer: 8 tabs — Twin/Pots/Afford/Spend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633472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63300"/>
                </a:solidFill>
                <a:latin typeface="Calibri"/>
              </a:defRPr>
            </a:pPr>
            <a:r>
              <a:t>Bank: Portfolio EWS + Gate Audit + ReBIT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980944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63300"/>
                </a:solidFill>
                <a:latin typeface="Calibri"/>
              </a:defRPr>
            </a:pPr>
            <a:r>
              <a:t>Family: Household merge +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328416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63300"/>
                </a:solidFill>
                <a:latin typeface="Calibri"/>
              </a:defRPr>
            </a:pPr>
            <a:r>
              <a:t>Mobile: Bottom nav • Spring • 44px taps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675888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63300"/>
                </a:solidFill>
                <a:latin typeface="Calibri"/>
              </a:defRPr>
            </a:pPr>
            <a:r>
              <a:t>Copilot: Voice HI/GU + tool-calling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989320"/>
            <a:ext cx="11064240" cy="41148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8EF244"/>
                </a:solidFill>
                <a:latin typeface="Calibri"/>
              </a:defRPr>
            </a:pPr>
            <a:r>
              <a:t>app/api/router.py  •  15 routers  •  42 endpoints  •  /api/v1  •  lifespan DB init + CORS allowlist  •  Fallback: SQLite if Postgres down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63040" cy="256032"/>
          </a:xfrm>
          <a:prstGeom prst="roundRect">
            <a:avLst/>
          </a:prstGeom>
          <a:solidFill>
            <a:srgbClr val="EEF2E8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05  •  FINANCIAL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63300"/>
                </a:solidFill>
                <a:latin typeface="Calibri"/>
              </a:defRPr>
            </a:pPr>
            <a:r>
              <a:t>Financial Digital Twin — The Single Source of Truth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26517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286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A859"/>
                </a:solidFill>
                <a:latin typeface="Calibri"/>
              </a:defRPr>
            </a:pPr>
            <a:r>
              <a:t>74 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74796C"/>
                </a:solidFill>
                <a:latin typeface="Calibri"/>
              </a:defRPr>
            </a:pPr>
            <a:r>
              <a:t>6-dim weighted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08760"/>
            <a:ext cx="26517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645920"/>
            <a:ext cx="2286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STRESS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874519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59E0B"/>
                </a:solidFill>
                <a:latin typeface="Calibri"/>
              </a:defRPr>
            </a:pPr>
            <a:r>
              <a:t>38 /100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33172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74796C"/>
                </a:solidFill>
                <a:latin typeface="Calibri"/>
              </a:defRPr>
            </a:pPr>
            <a:r>
              <a:t>65% elevated for Rajesh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08760"/>
            <a:ext cx="26517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45920"/>
            <a:ext cx="2286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BUFFER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874519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63300"/>
                </a:solidFill>
                <a:latin typeface="Calibri"/>
              </a:defRPr>
            </a:pPr>
            <a:r>
              <a:t>3.5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3172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74796C"/>
                </a:solidFill>
                <a:latin typeface="Calibri"/>
              </a:defRPr>
            </a:pPr>
            <a:r>
              <a:t>Emergency runway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508760"/>
            <a:ext cx="26517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645920"/>
            <a:ext cx="2286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DTI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1874519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A859"/>
                </a:solidFill>
                <a:latin typeface="Calibri"/>
              </a:defRPr>
            </a:pPr>
            <a:r>
              <a:t>28%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33172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74796C"/>
                </a:solidFill>
                <a:latin typeface="Calibri"/>
              </a:defRPr>
            </a:pPr>
            <a:r>
              <a:t>Safe &lt;40% RBI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246120"/>
            <a:ext cx="5486400" cy="1828800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42900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74796C"/>
                </a:solidFill>
                <a:latin typeface="Calibri"/>
              </a:defRPr>
            </a:pPr>
            <a:r>
              <a:t>BUREAU vs AA  •  38-DAY BLIND WINDOW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7033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E11D48"/>
                </a:solidFill>
                <a:latin typeface="Calibri"/>
              </a:defRPr>
            </a:pPr>
            <a:r>
              <a:t>CIBIL 760 (flat 38 days)  →  hides -38% drawdown + 42% revolving spike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160520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4796C"/>
                </a:solidFill>
                <a:latin typeface="Calibri"/>
              </a:defRPr>
            </a:pPr>
            <a:r>
              <a:t>AA live shows health 74 → 48 in 21 days. Delinquency multiplier 3.4×. Judges see the divergence bar live.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246120"/>
            <a:ext cx="5349240" cy="182880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29000"/>
            <a:ext cx="48920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8EF244"/>
                </a:solidFill>
                <a:latin typeface="Calibri"/>
              </a:defRPr>
            </a:pPr>
            <a:r>
              <a:t>SHAP  •  WHY RISK LOOKS LIKE THIS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749039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•  Apollo Hospital 38k  (+0.42)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041647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•  Night UPI velocity  (+0.28)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334255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•  Liquidity buffer  (-0.31)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709160"/>
            <a:ext cx="4892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9AA88E"/>
                </a:solidFill>
                <a:latin typeface="Calibri"/>
              </a:defRPr>
            </a:pPr>
            <a:r>
              <a:t>SHAP TreeExplainer — RBI explainability, no LLM invention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49240"/>
            <a:ext cx="11064240" cy="594360"/>
          </a:xfrm>
          <a:prstGeom prst="roundRect">
            <a:avLst/>
          </a:prstGeom>
          <a:solidFill>
            <a:srgbClr val="EEF2E8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486400"/>
            <a:ext cx="10607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4796C"/>
                </a:solidFill>
                <a:latin typeface="Calibri"/>
              </a:defRPr>
            </a:pPr>
            <a:r>
              <a:t>Deterministic arithmetic in twin.py:429 calculate_affordability — future_balance, buffer_status, safer_range, EMI burden. LLM only formats vernacular.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3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63040" cy="256032"/>
          </a:xfrm>
          <a:prstGeom prst="roundRect">
            <a:avLst/>
          </a:prstGeom>
          <a:solidFill>
            <a:srgbClr val="EEF2E8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06  •  RESPONSIBLE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Gate That Says NO to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EF244"/>
                </a:solidFill>
                <a:latin typeface="Calibri"/>
              </a:defRPr>
            </a:pPr>
            <a:r>
              <a:t>Pipeline: Eligibility → Suitability → Stress → Affordability → SUPPRESS / RECOMMEND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84247"/>
            <a:ext cx="1463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163300"/>
                </a:solidFill>
                <a:latin typeface="Calibri"/>
              </a:defRPr>
            </a:pPr>
            <a:r>
              <a:t>POL-402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67127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63300"/>
                </a:solidFill>
                <a:latin typeface="Calibri"/>
              </a:defRPr>
            </a:pPr>
            <a:r>
              <a:t>Anti-Predatory Overleveraging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84247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4796C"/>
                </a:solidFill>
                <a:latin typeface="Calibri"/>
              </a:defRPr>
            </a:pPr>
            <a:r>
              <a:t>Block 36% loan if DTI&gt;40% or savings&lt;10%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984247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E11D48"/>
                </a:solidFill>
                <a:latin typeface="Calibri"/>
              </a:defRPr>
            </a:pPr>
            <a:r>
              <a:t>CRITICAL_BLOCK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1984247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163300"/>
                </a:solidFill>
                <a:latin typeface="Calibri"/>
              </a:defRPr>
            </a:pPr>
            <a:r>
              <a:t>14/day</a:t>
            </a:r>
            <a:br/>
            <a:r>
              <a:t>triggered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15767"/>
            <a:ext cx="110642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25495"/>
            <a:ext cx="1463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163300"/>
                </a:solidFill>
                <a:latin typeface="Calibri"/>
              </a:defRPr>
            </a:pPr>
            <a:r>
              <a:t>POL-301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08375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63300"/>
                </a:solidFill>
                <a:latin typeface="Calibri"/>
              </a:defRPr>
            </a:pPr>
            <a:r>
              <a:t>Medical Shock Quarantine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25495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4796C"/>
                </a:solidFill>
                <a:latin typeface="Calibri"/>
              </a:defRPr>
            </a:pPr>
            <a:r>
              <a:t>Freeze bureau flags if medical spike &gt;50% income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825495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E11D48"/>
                </a:solidFill>
                <a:latin typeface="Calibri"/>
              </a:defRPr>
            </a:pPr>
            <a:r>
              <a:t>EMPATHETIC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825495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163300"/>
                </a:solidFill>
                <a:latin typeface="Calibri"/>
              </a:defRPr>
            </a:pPr>
            <a:r>
              <a:t>8/day</a:t>
            </a:r>
            <a:br/>
            <a:r>
              <a:t>triggered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57015"/>
            <a:ext cx="110642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66743"/>
            <a:ext cx="1463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163300"/>
                </a:solidFill>
                <a:latin typeface="Calibri"/>
              </a:defRPr>
            </a:pPr>
            <a:r>
              <a:t>POL-204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49623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63300"/>
                </a:solidFill>
                <a:latin typeface="Calibri"/>
              </a:defRPr>
            </a:pPr>
            <a:r>
              <a:t>Merchant Divert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666743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4796C"/>
                </a:solidFill>
                <a:latin typeface="Calibri"/>
              </a:defRPr>
            </a:pPr>
            <a:r>
              <a:t>Redirect to PM SVANidhi 7% vs 36%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666743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E11D48"/>
                </a:solidFill>
                <a:latin typeface="Calibri"/>
              </a:defRPr>
            </a:pPr>
            <a:r>
              <a:t>CATALOG_DIVERT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3666743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163300"/>
                </a:solidFill>
                <a:latin typeface="Calibri"/>
              </a:defRPr>
            </a:pPr>
            <a:r>
              <a:t>22/day</a:t>
            </a:r>
            <a:br/>
            <a:r>
              <a:t>triggered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398263"/>
            <a:ext cx="110642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07991"/>
            <a:ext cx="1463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163300"/>
                </a:solidFill>
                <a:latin typeface="Calibri"/>
              </a:defRPr>
            </a:pPr>
            <a:r>
              <a:t>DPDP-SEC6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90871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63300"/>
                </a:solidFill>
                <a:latin typeface="Calibri"/>
              </a:defRPr>
            </a:pPr>
            <a:r>
              <a:t>Purpose Limitation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507991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4796C"/>
                </a:solidFill>
                <a:latin typeface="Calibri"/>
              </a:defRPr>
            </a:pPr>
            <a:r>
              <a:t>Auto-expire consent after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507991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E11D48"/>
                </a:solidFill>
                <a:latin typeface="Calibri"/>
              </a:defRPr>
            </a:pPr>
            <a:r>
              <a:t>STATUTORY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4507991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163300"/>
                </a:solidFill>
                <a:latin typeface="Calibri"/>
              </a:defRPr>
            </a:pPr>
            <a:r>
              <a:t>35/day</a:t>
            </a:r>
            <a:br/>
            <a:r>
              <a:t>triggered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8EF244"/>
                </a:solidFill>
                <a:latin typeface="Calibri"/>
              </a:defRPr>
            </a:pPr>
            <a:r>
              <a:t>Effect:  ₹40,840 interest saved per suppressed personal loan  •  Recovery 90 days  •  Every decision Merkle-hashed in Bank Audit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63040" cy="256032"/>
          </a:xfrm>
          <a:prstGeom prst="roundRect">
            <a:avLst/>
          </a:prstGeom>
          <a:solidFill>
            <a:srgbClr val="EEF2E8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07  •  INCOME FIREWALL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63300"/>
                </a:solidFill>
                <a:latin typeface="Calibri"/>
              </a:defRPr>
            </a:pPr>
            <a:r>
              <a:t>Pots — Wise Envelopes That Replace Loans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74796C"/>
                </a:solidFill>
                <a:latin typeface="Calibri"/>
              </a:defRPr>
            </a:pPr>
            <a:r>
              <a:t>Good month → auto-sweep 12%. Bad month → auto-release for rent. No CIBIL hit.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20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20440" cy="45720"/>
          </a:xfrm>
          <a:prstGeom prst="round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163300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011680"/>
            <a:ext cx="2468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74796C"/>
                </a:solidFill>
                <a:latin typeface="Calibri"/>
              </a:defRPr>
            </a:pPr>
            <a:r>
              <a:t>EMERGENCY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2468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63300"/>
                </a:solidFill>
                <a:latin typeface="Calibri"/>
              </a:defRPr>
            </a:pPr>
            <a:r>
              <a:t>₹ 12,000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30632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74796C"/>
                </a:solidFill>
                <a:latin typeface="Calibri"/>
              </a:defRPr>
            </a:pPr>
            <a:r>
              <a:t>Target 30k • 12%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71800"/>
            <a:ext cx="3063240" cy="109728"/>
          </a:xfrm>
          <a:prstGeom prst="roundRect">
            <a:avLst/>
          </a:prstGeom>
          <a:solidFill>
            <a:srgbClr val="EE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1225296" cy="109728"/>
          </a:xfrm>
          <a:prstGeom prst="round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54680"/>
            <a:ext cx="30632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74796C"/>
                </a:solidFill>
                <a:latin typeface="Calibri"/>
              </a:defRPr>
            </a:pPr>
            <a:r>
              <a:t>40% of target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520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1828800"/>
            <a:ext cx="3520440" cy="4572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0116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163300"/>
                </a:solidFill>
                <a:latin typeface="Calibri"/>
              </a:defRPr>
            </a:pPr>
            <a:r>
              <a:t>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11680"/>
            <a:ext cx="2468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74796C"/>
                </a:solidFill>
                <a:latin typeface="Calibri"/>
              </a:defRPr>
            </a:pPr>
            <a:r>
              <a:t>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212848"/>
            <a:ext cx="2468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63300"/>
                </a:solidFill>
                <a:latin typeface="Calibri"/>
              </a:defRPr>
            </a:pPr>
            <a:r>
              <a:t>₹ 18,000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606040"/>
            <a:ext cx="30632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74796C"/>
                </a:solidFill>
                <a:latin typeface="Calibri"/>
              </a:defRPr>
            </a:pPr>
            <a:r>
              <a:t>Due 3rd • Locked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2971800"/>
            <a:ext cx="3063240" cy="109728"/>
          </a:xfrm>
          <a:prstGeom prst="roundRect">
            <a:avLst/>
          </a:prstGeom>
          <a:solidFill>
            <a:srgbClr val="EE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2971800"/>
            <a:ext cx="3063240" cy="109728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154680"/>
            <a:ext cx="30632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74796C"/>
                </a:solidFill>
                <a:latin typeface="Calibri"/>
              </a:defRPr>
            </a:pPr>
            <a:r>
              <a:t>100% of target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828800"/>
            <a:ext cx="3520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1828800"/>
            <a:ext cx="3520440" cy="45720"/>
          </a:xfrm>
          <a:prstGeom prst="roundRect">
            <a:avLst/>
          </a:prstGeom>
          <a:solidFill>
            <a:srgbClr val="747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20116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163300"/>
                </a:solidFill>
                <a:latin typeface="Calibri"/>
              </a:defRPr>
            </a:pPr>
            <a:r>
              <a:t>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011680"/>
            <a:ext cx="2468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74796C"/>
                </a:solidFill>
                <a:latin typeface="Calibri"/>
              </a:defRPr>
            </a:pPr>
            <a:r>
              <a:t>DUKAAN STOCK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2212848"/>
            <a:ext cx="2468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63300"/>
                </a:solidFill>
                <a:latin typeface="Calibri"/>
              </a:defRPr>
            </a:pPr>
            <a:r>
              <a:t>₹ 15,000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606040"/>
            <a:ext cx="30632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74796C"/>
                </a:solidFill>
                <a:latin typeface="Calibri"/>
              </a:defRPr>
            </a:pPr>
            <a:r>
              <a:t>For shop inventory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2971800"/>
            <a:ext cx="3063240" cy="109728"/>
          </a:xfrm>
          <a:prstGeom prst="roundRect">
            <a:avLst/>
          </a:prstGeom>
          <a:solidFill>
            <a:srgbClr val="EE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66760" y="2971800"/>
            <a:ext cx="2297430" cy="109728"/>
          </a:xfrm>
          <a:prstGeom prst="roundRect">
            <a:avLst/>
          </a:prstGeom>
          <a:solidFill>
            <a:srgbClr val="747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154680"/>
            <a:ext cx="30632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74796C"/>
                </a:solidFill>
                <a:latin typeface="Calibri"/>
              </a:defRPr>
            </a:pPr>
            <a:r>
              <a:t>75% of target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160520"/>
            <a:ext cx="11064240" cy="868680"/>
          </a:xfrm>
          <a:prstGeom prst="roundRect">
            <a:avLst/>
          </a:prstGeom>
          <a:solidFill>
            <a:srgbClr val="EEF2E8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343400"/>
            <a:ext cx="10607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63300"/>
                </a:solidFill>
                <a:latin typeface="Calibri"/>
              </a:defRPr>
            </a:pPr>
            <a:r>
              <a:t>⚡ Autopilot Logic  (pots.py:68) —  If Emergency &lt; target and Dukaan &gt; ₹4k → move min(balance-2k, target-balance, ₹5k) → Emergency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663440"/>
            <a:ext cx="10607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4796C"/>
                </a:solidFill>
                <a:latin typeface="Calibri"/>
              </a:defRPr>
            </a:pPr>
            <a:r>
              <a:t>Result:  Release ₹5k from Dukaan → Rent Pot vs taking 36% loan. Runway stays 3.5 mo. Zero hallucination — all balances from Twin.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74796C"/>
                </a:solidFill>
                <a:latin typeface="Calibri"/>
              </a:defRPr>
            </a:pPr>
            <a:r>
              <a:t>Also:  Personalized Pots  •  🎓 School Fees  •  💊 Medical  •  ✈ Travel  —  create via + Create Pot (presets + icon picker)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63040" cy="256032"/>
          </a:xfrm>
          <a:prstGeom prst="roundRect">
            <a:avLst/>
          </a:prstGeom>
          <a:solidFill>
            <a:srgbClr val="EEF2E8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08  •  CHECKOUT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6400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63300"/>
                </a:solidFill>
                <a:latin typeface="Calibri"/>
              </a:defRPr>
            </a:pPr>
            <a:r>
              <a:t>Affordability at the Moment of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74796C"/>
                </a:solidFill>
                <a:latin typeface="Calibri"/>
              </a:defRPr>
            </a:pPr>
            <a:r>
              <a:t>Paste any UPI link, QR amount, or price. Get 2-sec deterministic verdict.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6400800" cy="914400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43891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206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63300"/>
                </a:solidFill>
                <a:latin typeface="Calibri"/>
              </a:defRPr>
            </a:pPr>
            <a:r>
              <a:t>upi://pay?pa=shop@okhdfc&amp;am=48000&amp;tn=Laptop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2057400"/>
            <a:ext cx="1371600" cy="45720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214884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8EF244"/>
                </a:solidFill>
                <a:latin typeface="Calibri"/>
              </a:defRPr>
            </a:pPr>
            <a:r>
              <a:t>Can I Afford? 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71800"/>
            <a:ext cx="6400800" cy="18288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D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E11D48"/>
                </a:solidFill>
                <a:latin typeface="Calibri"/>
              </a:defRPr>
            </a:pPr>
            <a:r>
              <a:t>✗  CONDITIONALLY — Gate SUPPRESS POL-402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4796C"/>
                </a:solidFill>
                <a:latin typeface="Calibri"/>
              </a:defRPr>
            </a:pPr>
            <a:r>
              <a:t>Post-purchase buffer would fall to 1.1 mo (target 3). EMI burden 44% → predatory.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5943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163300"/>
                </a:solidFill>
                <a:latin typeface="Calibri"/>
              </a:defRPr>
            </a:pPr>
            <a:r>
              <a:t>Alternative:  Use Pots (₹14k) + delay 2 months → buffer 2.8 mo, safe range ₹32k.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828800"/>
            <a:ext cx="4297680" cy="297180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2057400"/>
            <a:ext cx="37490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8EF244"/>
                </a:solidFill>
                <a:latin typeface="Calibri"/>
              </a:defRPr>
            </a:pPr>
            <a:r>
              <a:t>HOW IT WORKS  •  checkout.py:15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423160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FFFFFF"/>
                </a:solidFill>
                <a:latin typeface="Calibri"/>
              </a:defRPr>
            </a:pPr>
            <a:r>
              <a:t>•  1. Regex parses upi://?am= or ₹ 48k or 48k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715768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FFFFFF"/>
                </a:solidFill>
                <a:latin typeface="Calibri"/>
              </a:defRPr>
            </a:pPr>
            <a:r>
              <a:t>•  2. calculate_affordability (Twin, deterministic)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008376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FFFFFF"/>
                </a:solidFill>
                <a:latin typeface="Calibri"/>
              </a:defRPr>
            </a:pPr>
            <a:r>
              <a:t>•  3. Gate evaluate_product(personal_loan)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300984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FFFFFF"/>
                </a:solidFill>
                <a:latin typeface="Calibri"/>
              </a:defRPr>
            </a:pPr>
            <a:r>
              <a:t>•  4. Pots total → alternative string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593592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FFFFFF"/>
                </a:solidFill>
                <a:latin typeface="Calibri"/>
              </a:defRPr>
            </a:pPr>
            <a:r>
              <a:t>•  5. Return YES / COND / NO + SHAP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297680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9AA88E"/>
                </a:solidFill>
                <a:latin typeface="Calibri"/>
              </a:defRPr>
            </a:pPr>
            <a:r>
              <a:t>Also available as AffordWidget on dashboard — same logic, same trust.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63040" cy="256032"/>
          </a:xfrm>
          <a:prstGeom prst="roundRect">
            <a:avLst/>
          </a:prstGeom>
          <a:solidFill>
            <a:srgbClr val="EEF2E8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09  •  HOUSEHOLD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63300"/>
                </a:solidFill>
                <a:latin typeface="Calibri"/>
              </a:defRPr>
            </a:pPr>
            <a:r>
              <a:t>Family Twin — Finance is Household, Not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74796C"/>
                </a:solidFill>
                <a:latin typeface="Calibri"/>
              </a:defRPr>
            </a:pPr>
            <a:r>
              <a:t>Merge shop + spouse + fees into one DTI, one buffer, one health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2926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63300"/>
                </a:solidFill>
                <a:latin typeface="Calibri"/>
              </a:defRPr>
            </a:pPr>
            <a:r>
              <a:t>Rajesh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74796C"/>
                </a:solidFill>
                <a:latin typeface="Calibri"/>
              </a:defRPr>
            </a:pPr>
            <a:r>
              <a:t>Shop income ₹65k • DTI 44%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163300"/>
                </a:solidFill>
                <a:latin typeface="Calibri"/>
              </a:defRPr>
            </a:pPr>
            <a:r>
              <a:t>Health 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874519"/>
            <a:ext cx="2926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9659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63300"/>
                </a:solidFill>
                <a:latin typeface="Calibri"/>
              </a:defRPr>
            </a:pPr>
            <a:r>
              <a:t>Anita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194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74796C"/>
                </a:solidFill>
                <a:latin typeface="Calibri"/>
              </a:defRPr>
            </a:pPr>
            <a:r>
              <a:t>Salaried ₹60k • Savings 42%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4231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163300"/>
                </a:solidFill>
                <a:latin typeface="Calibri"/>
              </a:defRPr>
            </a:pPr>
            <a:r>
              <a:t>Health 88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1874519"/>
            <a:ext cx="1005840" cy="1097280"/>
          </a:xfrm>
          <a:prstGeom prst="roundRect">
            <a:avLst/>
          </a:prstGeom>
          <a:solidFill>
            <a:srgbClr val="8EF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2286000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63300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74519"/>
            <a:ext cx="3246120" cy="109728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965960"/>
            <a:ext cx="3246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Sharma Household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94560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8EF244"/>
                </a:solidFill>
                <a:latin typeface="Calibri"/>
              </a:defRPr>
            </a:pPr>
            <a:r>
              <a:t>Health 74  •  Buffer 2.1 mo  •  DTI 31%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423160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9AA88E"/>
                </a:solidFill>
                <a:latin typeface="Calibri"/>
              </a:defRPr>
            </a:pPr>
            <a:r>
              <a:t>family.py:35 merge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11064240" cy="9144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20440"/>
            <a:ext cx="10607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92400E"/>
                </a:solidFill>
                <a:latin typeface="Calibri"/>
              </a:defRPr>
            </a:pPr>
            <a:r>
              <a:t>⚠  Alert if household buffer &lt; 2 mo →  "School fees due in 12 days but buffer only 8 days — pause SIP or sweep Pots?"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86200"/>
            <a:ext cx="10607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74796C"/>
                </a:solidFill>
                <a:latin typeface="Calibri"/>
              </a:defRPr>
            </a:pPr>
            <a:r>
              <a:t>APIs:  POST /family/create {head, members, name}  •  GET /family/{id}  •  GET /family/list  —  family.py + family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74796C"/>
                </a:solidFill>
                <a:latin typeface="Calibri"/>
              </a:defRPr>
            </a:pPr>
            <a:r>
              <a:t>Use case: Kirana + spouse salaried + child education = Household Twin prevents fake DTI approval on single account.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63040" cy="256032"/>
          </a:xfrm>
          <a:prstGeom prst="roundRect">
            <a:avLst/>
          </a:prstGeom>
          <a:solidFill>
            <a:srgbClr val="EEF2E8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10  •  BANK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63300"/>
                </a:solidFill>
                <a:latin typeface="Calibri"/>
              </a:defRPr>
            </a:pPr>
            <a:r>
              <a:t>Bank Portfolio EWS — From 1 Customer to 10,000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74796C"/>
                </a:solidFill>
                <a:latin typeface="Calibri"/>
              </a:defRPr>
            </a:pPr>
            <a:r>
              <a:t>Not drilldown only. Heatmap + KPIs that matter to Risk Officers — blocked, saved, avoided.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51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651760" cy="36576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286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BLOCKED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63300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74796C"/>
                </a:solidFill>
                <a:latin typeface="Calibri"/>
              </a:defRPr>
            </a:pPr>
            <a:r>
              <a:t>Predatory offers suppressed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651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1828800"/>
            <a:ext cx="2651760" cy="36576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965960"/>
            <a:ext cx="2286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INTEREST SAVED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14884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63300"/>
                </a:solidFill>
                <a:latin typeface="Calibri"/>
              </a:defRPr>
            </a:pPr>
            <a:r>
              <a:t>₹ 1.2L+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51460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74796C"/>
                </a:solidFill>
                <a:latin typeface="Calibri"/>
              </a:defRPr>
            </a:pPr>
            <a:r>
              <a:t>At 36% APR avoided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828800"/>
            <a:ext cx="2651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828800"/>
            <a:ext cx="2651760" cy="36576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965960"/>
            <a:ext cx="2286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NPA AVOIDED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14884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63300"/>
                </a:solidFill>
                <a:latin typeface="Calibri"/>
              </a:defRPr>
            </a:pPr>
            <a:r>
              <a:t>₹ 2.16L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1460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74796C"/>
                </a:solidFill>
                <a:latin typeface="Calibri"/>
              </a:defRPr>
            </a:pPr>
            <a:r>
              <a:t>90-day modeled (×1.8)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828800"/>
            <a:ext cx="2651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9720" y="1828800"/>
            <a:ext cx="2651760" cy="36576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1965960"/>
            <a:ext cx="2286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FILES MONITORED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14884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63300"/>
                </a:solidFill>
                <a:latin typeface="Calibri"/>
              </a:defRPr>
            </a:pPr>
            <a:r>
              <a:t>3 → 10k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51460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74796C"/>
                </a:solidFill>
                <a:latin typeface="Calibri"/>
              </a:defRPr>
            </a:pPr>
            <a:r>
              <a:t>ReBIT-linked accounts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383280"/>
            <a:ext cx="6583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520440"/>
            <a:ext cx="6126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74796C"/>
                </a:solidFill>
                <a:latin typeface="Calibri"/>
              </a:defRPr>
            </a:pPr>
            <a:r>
              <a:t>HEATMAP  •  Customer → Health → DTI → Gate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794760"/>
            <a:ext cx="6309360" cy="301752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794760"/>
            <a:ext cx="20116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163300"/>
                </a:solidFill>
                <a:latin typeface="Calibri"/>
              </a:defRPr>
            </a:pPr>
            <a:r>
              <a:t>Rajesh Sharma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3794760"/>
            <a:ext cx="914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163300"/>
                </a:solidFill>
                <a:latin typeface="Calibri"/>
              </a:defRPr>
            </a:pPr>
            <a:r>
              <a:t>62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794760"/>
            <a:ext cx="914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163300"/>
                </a:solidFill>
                <a:latin typeface="Calibri"/>
              </a:defRPr>
            </a:pPr>
            <a:r>
              <a:t>44%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794760"/>
            <a:ext cx="128016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E11D48"/>
                </a:solidFill>
                <a:latin typeface="Calibri"/>
              </a:defRPr>
            </a:pPr>
            <a:r>
              <a:t>HOLD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178808"/>
            <a:ext cx="630936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178808"/>
            <a:ext cx="20116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163300"/>
                </a:solidFill>
                <a:latin typeface="Calibri"/>
              </a:defRPr>
            </a:pPr>
            <a:r>
              <a:t>Anita Desai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4178808"/>
            <a:ext cx="914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163300"/>
                </a:solidFill>
                <a:latin typeface="Calibri"/>
              </a:defRPr>
            </a:pPr>
            <a:r>
              <a:t>88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4178808"/>
            <a:ext cx="914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163300"/>
                </a:solidFill>
                <a:latin typeface="Calibri"/>
              </a:defRPr>
            </a:pPr>
            <a:r>
              <a:t>22%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178808"/>
            <a:ext cx="128016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00A859"/>
                </a:solidFill>
                <a:latin typeface="Calibri"/>
              </a:defRPr>
            </a:pPr>
            <a:r>
              <a:t>CLEAR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562856"/>
            <a:ext cx="6309360" cy="301752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562856"/>
            <a:ext cx="20116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163300"/>
                </a:solidFill>
                <a:latin typeface="Calibri"/>
              </a:defRPr>
            </a:pPr>
            <a:r>
              <a:t>Vikram Patel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4562856"/>
            <a:ext cx="914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163300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4562856"/>
            <a:ext cx="914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163300"/>
                </a:solidFill>
                <a:latin typeface="Calibri"/>
              </a:defRPr>
            </a:pPr>
            <a:r>
              <a:t>51%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562856"/>
            <a:ext cx="128016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E11D48"/>
                </a:solidFill>
                <a:latin typeface="Calibri"/>
              </a:defRPr>
            </a:pPr>
            <a:r>
              <a:t>HOLD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06640" y="3383280"/>
            <a:ext cx="4206240" cy="182880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40" y="3520440"/>
            <a:ext cx="37490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8EF244"/>
                </a:solidFill>
                <a:latin typeface="Calibri"/>
              </a:defRPr>
            </a:pPr>
            <a:r>
              <a:t>BANK ACTIONS  •  MERKLE-HASHED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94760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✓ 60-Day EMI Moratorium (zero CIBIL hit)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4087368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✓ Assign Counselor (Kavita Nair, HI/GU)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4379976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✓ One-click Relief → Bank Audit chain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4754880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9AA88E"/>
                </a:solidFill>
                <a:latin typeface="Calibri"/>
              </a:defRPr>
            </a:pPr>
            <a:r>
              <a:t>GET /portfolio/overview  •  GET /portfolio/bureau-lag/{id}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63040" cy="256032"/>
          </a:xfrm>
          <a:prstGeom prst="roundRect">
            <a:avLst/>
          </a:prstGeom>
          <a:solidFill>
            <a:srgbClr val="EEF2E8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11  •  AI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63300"/>
                </a:solidFill>
                <a:latin typeface="Calibri"/>
              </a:defRPr>
            </a:pPr>
            <a:r>
              <a:t>Explainable AI — RBI Ready, Not Black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4796C"/>
                </a:solidFill>
                <a:latin typeface="Calibri"/>
              </a:defRPr>
            </a:pPr>
            <a:r>
              <a:t>13 Bharat behavioral features  •  XGBoost + SHAP  •  Isolation Forest  •  Merkle Audit  •  No demographic 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20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163300"/>
                </a:solidFill>
                <a:latin typeface="Calibri"/>
              </a:defRPr>
            </a:pPr>
            <a:r>
              <a:t>STRESS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3063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74796C"/>
                </a:solidFill>
                <a:latin typeface="Calibri"/>
              </a:defRPr>
            </a:pPr>
            <a:r>
              <a:t>XGBoost • n_est 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937"/>
              </a:lnSpc>
              <a:spcBef>
                <a:spcPts val="0"/>
              </a:spcBef>
              <a:spcAft>
                <a:spcPts val="100"/>
              </a:spcAft>
              <a:defRPr sz="750" b="0" i="0">
                <a:solidFill>
                  <a:srgbClr val="163300"/>
                </a:solidFill>
                <a:latin typeface="Calibri"/>
              </a:defRPr>
            </a:pPr>
            <a:r>
              <a:t>ROC-AUC 0.9382</a:t>
            </a:r>
          </a:p>
          <a:p>
            <a:pPr algn="l">
              <a:lnSpc>
                <a:spcPts val="937"/>
              </a:lnSpc>
              <a:spcBef>
                <a:spcPts val="0"/>
              </a:spcBef>
              <a:spcAft>
                <a:spcPts val="100"/>
              </a:spcAft>
              <a:defRPr sz="750" b="0" i="0">
                <a:solidFill>
                  <a:srgbClr val="163300"/>
                </a:solidFill>
                <a:latin typeface="Calibri"/>
              </a:defRPr>
            </a:pPr>
            <a:r>
              <a:t>Prec 0.78 Rec 0.84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3063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00A859"/>
                </a:solidFill>
                <a:latin typeface="Calibri"/>
              </a:defRPr>
            </a:pPr>
            <a:r>
              <a:t>SHAP TreeExplainer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520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163300"/>
                </a:solidFill>
                <a:latin typeface="Calibri"/>
              </a:defRPr>
            </a:pPr>
            <a:r>
              <a:t>ANOMALY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63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74796C"/>
                </a:solidFill>
                <a:latin typeface="Calibri"/>
              </a:defRPr>
            </a:pPr>
            <a:r>
              <a:t>IsolationForest 100</a:t>
            </a:r>
            <a:br/>
            <a:r>
              <a:t>cont 0.03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060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937"/>
              </a:lnSpc>
              <a:spcBef>
                <a:spcPts val="0"/>
              </a:spcBef>
              <a:spcAft>
                <a:spcPts val="100"/>
              </a:spcAft>
              <a:defRPr sz="750" b="0" i="0">
                <a:solidFill>
                  <a:srgbClr val="163300"/>
                </a:solidFill>
                <a:latin typeface="Calibri"/>
              </a:defRPr>
            </a:pPr>
            <a:r>
              <a:t>6-dim: amount/hour/velocity</a:t>
            </a:r>
          </a:p>
          <a:p>
            <a:pPr algn="l">
              <a:lnSpc>
                <a:spcPts val="937"/>
              </a:lnSpc>
              <a:spcBef>
                <a:spcPts val="0"/>
              </a:spcBef>
              <a:spcAft>
                <a:spcPts val="100"/>
              </a:spcAft>
              <a:defRPr sz="750" b="0" i="0">
                <a:solidFill>
                  <a:srgbClr val="163300"/>
                </a:solidFill>
                <a:latin typeface="Calibri"/>
              </a:defRPr>
            </a:pPr>
            <a:r>
              <a:t> midnight + new beneficiary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37560"/>
            <a:ext cx="3063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00A859"/>
                </a:solidFill>
                <a:latin typeface="Calibri"/>
              </a:defRPr>
            </a:pPr>
            <a:r>
              <a:t>Z-score + flags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520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01168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163300"/>
                </a:solidFill>
                <a:latin typeface="Calibri"/>
              </a:defRPr>
            </a:pPr>
            <a:r>
              <a:t>LIFESTAGE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240280"/>
            <a:ext cx="3063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74796C"/>
                </a:solidFill>
                <a:latin typeface="Calibri"/>
              </a:defRPr>
            </a:pPr>
            <a:r>
              <a:t>RandomForest 150</a:t>
            </a:r>
            <a:br/>
            <a:r>
              <a:t>5 classes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060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937"/>
              </a:lnSpc>
              <a:spcBef>
                <a:spcPts val="0"/>
              </a:spcBef>
              <a:spcAft>
                <a:spcPts val="100"/>
              </a:spcAft>
              <a:defRPr sz="750" b="0" i="0">
                <a:solidFill>
                  <a:srgbClr val="163300"/>
                </a:solidFill>
                <a:latin typeface="Calibri"/>
              </a:defRPr>
            </a:pPr>
            <a:r>
              <a:t>Kirana • Gig • Salaried</a:t>
            </a:r>
          </a:p>
          <a:p>
            <a:pPr algn="l">
              <a:lnSpc>
                <a:spcPts val="937"/>
              </a:lnSpc>
              <a:spcBef>
                <a:spcPts val="0"/>
              </a:spcBef>
              <a:spcAft>
                <a:spcPts val="100"/>
              </a:spcAft>
              <a:defRPr sz="750" b="0" i="0">
                <a:solidFill>
                  <a:srgbClr val="163300"/>
                </a:solidFill>
                <a:latin typeface="Calibri"/>
              </a:defRPr>
            </a:pPr>
            <a:r>
              <a:t>Rural Agri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337560"/>
            <a:ext cx="3063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00A859"/>
                </a:solidFill>
                <a:latin typeface="Calibri"/>
              </a:defRPr>
            </a:pPr>
            <a:r>
              <a:t>Product baskets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60520"/>
            <a:ext cx="11064240" cy="77724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43400"/>
            <a:ext cx="10607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8EF244"/>
                </a:solidFill>
                <a:latin typeface="Calibri"/>
              </a:defRPr>
            </a:pPr>
            <a:r>
              <a:t>Merkle Audit Trail  •  SHA256(prev_hash + sorted decision)  •  GET /ml/audit-trail → chain_intact: 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17720"/>
            <a:ext cx="10607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FFFFFF"/>
                </a:solidFill>
                <a:latin typeface="Calibri"/>
              </a:defRPr>
            </a:pPr>
            <a:r>
              <a:t>Every Gate verdict logged:  stress_prob, life_stage, suppressed_count  →  root_hash for RBI MRM. Bank Audit shows integrity_hash [:12] per entry.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63040" cy="256032"/>
          </a:xfrm>
          <a:prstGeom prst="roundRect">
            <a:avLst/>
          </a:prstGeom>
          <a:solidFill>
            <a:srgbClr val="EEF2E8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12  • 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63300"/>
                </a:solidFill>
                <a:latin typeface="Calibri"/>
              </a:defRPr>
            </a:pPr>
            <a:r>
              <a:t>Security &amp; DPDP Act 2023 — Built In, Not Bolted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520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20040" cy="320040"/>
          </a:xfrm>
          <a:prstGeom prst="roundRect">
            <a:avLst/>
          </a:prstGeom>
          <a:solidFill>
            <a:srgbClr val="E6F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5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73352"/>
            <a:ext cx="2560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63300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202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875"/>
              </a:lnSpc>
              <a:spcBef>
                <a:spcPts val="0"/>
              </a:spcBef>
              <a:spcAft>
                <a:spcPts val="100"/>
              </a:spcAft>
              <a:defRPr sz="700" b="0" i="0">
                <a:solidFill>
                  <a:srgbClr val="74796C"/>
                </a:solidFill>
                <a:latin typeface="Calibri"/>
              </a:defRPr>
            </a:pPr>
            <a:r>
              <a:t>OTP SHA256 + 5m TTL + 5 attempts</a:t>
            </a:r>
          </a:p>
          <a:p>
            <a:pPr algn="l">
              <a:lnSpc>
                <a:spcPts val="875"/>
              </a:lnSpc>
              <a:spcBef>
                <a:spcPts val="0"/>
              </a:spcBef>
              <a:spcAft>
                <a:spcPts val="100"/>
              </a:spcAft>
              <a:defRPr sz="700" b="0" i="0">
                <a:solidFill>
                  <a:srgbClr val="74796C"/>
                </a:solidFill>
                <a:latin typeface="Calibri"/>
              </a:defRPr>
            </a:pPr>
            <a:r>
              <a:t>JWT HS256 24h • httpOnly lax • /auth/me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520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691640"/>
            <a:ext cx="320040" cy="320040"/>
          </a:xfrm>
          <a:prstGeom prst="roundRect">
            <a:avLst/>
          </a:prstGeom>
          <a:solidFill>
            <a:srgbClr val="E6F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4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5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673352"/>
            <a:ext cx="2560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63300"/>
                </a:solidFill>
                <a:latin typeface="Calibri"/>
              </a:defRPr>
            </a:pPr>
            <a:r>
              <a:t>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9202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875"/>
              </a:lnSpc>
              <a:spcBef>
                <a:spcPts val="0"/>
              </a:spcBef>
              <a:spcAft>
                <a:spcPts val="100"/>
              </a:spcAft>
              <a:defRPr sz="700" b="0" i="0">
                <a:solidFill>
                  <a:srgbClr val="74796C"/>
                </a:solidFill>
                <a:latin typeface="Calibri"/>
              </a:defRPr>
            </a:pPr>
            <a:r>
              <a:t>SECRET_KEY ≥32 chars or ephemeral token_hex</a:t>
            </a:r>
          </a:p>
          <a:p>
            <a:pPr algn="l">
              <a:lnSpc>
                <a:spcPts val="875"/>
              </a:lnSpc>
              <a:spcBef>
                <a:spcPts val="0"/>
              </a:spcBef>
              <a:spcAft>
                <a:spcPts val="100"/>
              </a:spcAft>
              <a:defRPr sz="700" b="0" i="0">
                <a:solidFill>
                  <a:srgbClr val="74796C"/>
                </a:solidFill>
                <a:latin typeface="Calibri"/>
              </a:defRPr>
            </a:pPr>
            <a:r>
              <a:t>no hard-coded fallback in prod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08760"/>
            <a:ext cx="3520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1691640"/>
            <a:ext cx="320040" cy="320040"/>
          </a:xfrm>
          <a:prstGeom prst="roundRect">
            <a:avLst/>
          </a:prstGeom>
          <a:solidFill>
            <a:srgbClr val="E6F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69164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5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73352"/>
            <a:ext cx="2560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63300"/>
                </a:solidFill>
                <a:latin typeface="Calibri"/>
              </a:defRPr>
            </a:pPr>
            <a:r>
              <a:t>AA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9202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875"/>
              </a:lnSpc>
              <a:spcBef>
                <a:spcPts val="0"/>
              </a:spcBef>
              <a:spcAft>
                <a:spcPts val="100"/>
              </a:spcAft>
              <a:defRPr sz="700" b="0" i="0">
                <a:solidFill>
                  <a:srgbClr val="74796C"/>
                </a:solidFill>
                <a:latin typeface="Calibri"/>
              </a:defRPr>
            </a:pPr>
            <a:r>
              <a:t>ReBIT 1.1 • FI Types • 6M DataLife • revoke</a:t>
            </a:r>
          </a:p>
          <a:p>
            <a:pPr algn="l">
              <a:lnSpc>
                <a:spcPts val="875"/>
              </a:lnSpc>
              <a:spcBef>
                <a:spcPts val="0"/>
              </a:spcBef>
              <a:spcAft>
                <a:spcPts val="100"/>
              </a:spcAft>
              <a:defRPr sz="700" b="0" i="0">
                <a:solidFill>
                  <a:srgbClr val="74796C"/>
                </a:solidFill>
                <a:latin typeface="Calibri"/>
              </a:defRPr>
            </a:pPr>
            <a:r>
              <a:t>Setu mock|live (x-client-id/secret/product)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08960"/>
            <a:ext cx="3520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3291840"/>
            <a:ext cx="320040" cy="320040"/>
          </a:xfrm>
          <a:prstGeom prst="roundRect">
            <a:avLst/>
          </a:prstGeom>
          <a:solidFill>
            <a:srgbClr val="E6F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29184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5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273552"/>
            <a:ext cx="2560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63300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5204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875"/>
              </a:lnSpc>
              <a:spcBef>
                <a:spcPts val="0"/>
              </a:spcBef>
              <a:spcAft>
                <a:spcPts val="100"/>
              </a:spcAft>
              <a:defRPr sz="700" b="0" i="0">
                <a:solidFill>
                  <a:srgbClr val="74796C"/>
                </a:solidFill>
                <a:latin typeface="Calibri"/>
              </a:defRPr>
            </a:pPr>
            <a:r>
              <a:t>5MB guard • ALLOWED .csv/.xlsx/.pdf</a:t>
            </a:r>
          </a:p>
          <a:p>
            <a:pPr algn="l">
              <a:lnSpc>
                <a:spcPts val="875"/>
              </a:lnSpc>
              <a:spcBef>
                <a:spcPts val="0"/>
              </a:spcBef>
              <a:spcAft>
                <a:spcPts val="100"/>
              </a:spcAft>
              <a:defRPr sz="700" b="0" i="0">
                <a:solidFill>
                  <a:srgbClr val="74796C"/>
                </a:solidFill>
                <a:latin typeface="Calibri"/>
              </a:defRPr>
            </a:pPr>
            <a:r>
              <a:t>password PDF + empty check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108960"/>
            <a:ext cx="3520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0" y="3291840"/>
            <a:ext cx="320040" cy="320040"/>
          </a:xfrm>
          <a:prstGeom prst="roundRect">
            <a:avLst/>
          </a:prstGeom>
          <a:solidFill>
            <a:srgbClr val="E6F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29184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5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273552"/>
            <a:ext cx="2560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63300"/>
                </a:solidFill>
                <a:latin typeface="Calibri"/>
              </a:defRPr>
            </a:pPr>
            <a: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5204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875"/>
              </a:lnSpc>
              <a:spcBef>
                <a:spcPts val="0"/>
              </a:spcBef>
              <a:spcAft>
                <a:spcPts val="100"/>
              </a:spcAft>
              <a:defRPr sz="700" b="0" i="0">
                <a:solidFill>
                  <a:srgbClr val="74796C"/>
                </a:solidFill>
                <a:latin typeface="Calibri"/>
              </a:defRPr>
            </a:pPr>
            <a:r>
              <a:t>SHAP + Gate policies verifiable</a:t>
            </a:r>
          </a:p>
          <a:p>
            <a:pPr algn="l">
              <a:lnSpc>
                <a:spcPts val="875"/>
              </a:lnSpc>
              <a:spcBef>
                <a:spcPts val="0"/>
              </a:spcBef>
              <a:spcAft>
                <a:spcPts val="100"/>
              </a:spcAft>
              <a:defRPr sz="700" b="0" i="0">
                <a:solidFill>
                  <a:srgbClr val="74796C"/>
                </a:solidFill>
                <a:latin typeface="Calibri"/>
              </a:defRPr>
            </a:pPr>
            <a:r>
              <a:t>Bank /gate-policies 4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108960"/>
            <a:ext cx="3520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66760" y="3291840"/>
            <a:ext cx="320040" cy="320040"/>
          </a:xfrm>
          <a:prstGeom prst="roundRect">
            <a:avLst/>
          </a:prstGeom>
          <a:solidFill>
            <a:srgbClr val="E6F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29184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5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3273552"/>
            <a:ext cx="2560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63300"/>
                </a:solidFill>
                <a:latin typeface="Calibri"/>
              </a:defRPr>
            </a:pPr>
            <a:r>
              <a:t>Privacy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35204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875"/>
              </a:lnSpc>
              <a:spcBef>
                <a:spcPts val="0"/>
              </a:spcBef>
              <a:spcAft>
                <a:spcPts val="100"/>
              </a:spcAft>
              <a:defRPr sz="700" b="0" i="0">
                <a:solidFill>
                  <a:srgbClr val="74796C"/>
                </a:solidFill>
                <a:latin typeface="Calibri"/>
              </a:defRPr>
            </a:pPr>
            <a:r>
              <a:t>DPDP checkbox gates dashboard</a:t>
            </a:r>
          </a:p>
          <a:p>
            <a:pPr algn="l">
              <a:lnSpc>
                <a:spcPts val="875"/>
              </a:lnSpc>
              <a:spcBef>
                <a:spcPts val="0"/>
              </a:spcBef>
              <a:spcAft>
                <a:spcPts val="100"/>
              </a:spcAft>
              <a:defRPr sz="700" b="0" i="0">
                <a:solidFill>
                  <a:srgbClr val="74796C"/>
                </a:solidFill>
                <a:latin typeface="Calibri"/>
              </a:defRPr>
            </a:pPr>
            <a:r>
              <a:t>Consent artifact + Merkle + auto-expire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3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63040" cy="256032"/>
          </a:xfrm>
          <a:prstGeom prst="roundRect">
            <a:avLst/>
          </a:prstGeom>
          <a:solidFill>
            <a:srgbClr val="EEF2E8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13  •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60-Second Demo — Try It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8EF244"/>
                </a:solidFill>
                <a:latin typeface="Calibri"/>
              </a:defRPr>
            </a:pPr>
            <a:r>
              <a:t>http://localhost:3000   •   API 8001  •  NEXT_PUBLIC_API_URL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6002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011680"/>
            <a:ext cx="594360" cy="32004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594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8EF244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163300"/>
                </a:solidFill>
                <a:latin typeface="Calibri"/>
              </a:defRPr>
            </a:pPr>
            <a:r>
              <a:t>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Enter +91 → Send OTP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Dev OTP visible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→ Step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59" y="1828800"/>
            <a:ext cx="16002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79" y="2011680"/>
            <a:ext cx="594360" cy="32004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79" y="2057400"/>
            <a:ext cx="594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8EF24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59" y="2423160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163300"/>
                </a:solidFill>
                <a:latin typeface="Calibri"/>
              </a:defRPr>
            </a:pPr>
            <a:r>
              <a:t>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19" y="269748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SMS: paste 3 lines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or Upload CSV/PDF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or Setu AA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8" y="1828800"/>
            <a:ext cx="16002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00598" y="2011680"/>
            <a:ext cx="594360" cy="32004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598" y="2057400"/>
            <a:ext cx="594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8EF24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8" y="2423160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163300"/>
                </a:solidFill>
                <a:latin typeface="Calibri"/>
              </a:defRPr>
            </a:pPr>
            <a:r>
              <a:t>Twin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38" y="269748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Health 74 • Buffer 3.5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Bureau vs AA bar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SHAP top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197" y="1828800"/>
            <a:ext cx="16002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5117" y="2011680"/>
            <a:ext cx="594360" cy="32004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17" y="2057400"/>
            <a:ext cx="594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8EF24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197" y="2423160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163300"/>
                </a:solidFill>
                <a:latin typeface="Calibri"/>
              </a:defRPr>
            </a:pPr>
            <a:r>
              <a:t>Checkout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7" y="269748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Paste upi:// am=48k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→ COND + Pots alt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2-sec verdict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6" y="1828800"/>
            <a:ext cx="16002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49636" y="2011680"/>
            <a:ext cx="594360" cy="32004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36" y="2057400"/>
            <a:ext cx="594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8EF244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6" y="2423160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163300"/>
                </a:solidFill>
                <a:latin typeface="Calibri"/>
              </a:defRPr>
            </a:pPr>
            <a:r>
              <a:t>Pots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6" y="269748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Create 🎓 School Fees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Sweep 1k • Autopilot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Move 5k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21235" y="1828800"/>
            <a:ext cx="16002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424155" y="2011680"/>
            <a:ext cx="594360" cy="32004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55" y="2057400"/>
            <a:ext cx="594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8EF244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35" y="2423160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163300"/>
                </a:solidFill>
                <a:latin typeface="Calibri"/>
              </a:defRPr>
            </a:pPr>
            <a:r>
              <a:t>Bank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395" y="269748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Portfolio: 35 blocked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Approve Moratorium</a:t>
            </a:r>
          </a:p>
          <a:p>
            <a:pPr algn="ctr">
              <a:spcAft>
                <a:spcPts val="100"/>
              </a:spcAft>
              <a:defRPr sz="700">
                <a:solidFill>
                  <a:srgbClr val="74796C"/>
                </a:solidFill>
                <a:latin typeface="Calibri"/>
              </a:defRPr>
            </a:pPr>
            <a:r>
              <a:t>Merkle toast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794760"/>
            <a:ext cx="11064240" cy="914400"/>
          </a:xfrm>
          <a:prstGeom prst="roundRect">
            <a:avLst/>
          </a:prstGeom>
          <a:solidFill>
            <a:srgbClr val="0E1311"/>
          </a:solidFill>
          <a:ln w="12700">
            <a:solidFill>
              <a:srgbClr val="8EF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3977639"/>
            <a:ext cx="10607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50" b="0">
                <a:solidFill>
                  <a:srgbClr val="8EF244"/>
                </a:solidFill>
                <a:latin typeface="Calibri"/>
              </a:defRPr>
            </a:pPr>
            <a:r>
              <a:t>curl -X POST http://localhost:8001/api/v1/checkout/quick-check  -d '{"persona_id":"rajesh_sharma","raw_input":"upi://pay?pa=shop@okhdfc&amp;am=48000"}'    •    curl -X POST /family/create  -d '{"head_persona_id":"rajesh_sharma","members":["anita_desai"]}'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63040" cy="256032"/>
          </a:xfrm>
          <a:prstGeom prst="roundRect">
            <a:avLst/>
          </a:prstGeom>
          <a:solidFill>
            <a:srgbClr val="EEF2E8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14  • 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63300"/>
                </a:solidFill>
                <a:latin typeface="Calibri"/>
              </a:defRPr>
            </a:pPr>
            <a:r>
              <a:t>Why NIVA Wins vs 50 AA Dashboards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64240" cy="41148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9AA88E"/>
                </a:solidFill>
                <a:latin typeface="Calibri"/>
              </a:defRPr>
            </a:pPr>
            <a:r>
              <a:t>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554480"/>
            <a:ext cx="6217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8EF244"/>
                </a:solidFill>
                <a:latin typeface="Calibri"/>
              </a:defRPr>
            </a:pPr>
            <a:r>
              <a:t>NIVA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1064240" cy="438912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39112"/>
            <a:ext cx="4572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74796C"/>
                </a:solidFill>
                <a:latin typeface="Calibri"/>
              </a:defRPr>
            </a:pPr>
            <a:r>
              <a:t>✗  Single-user score + chatbot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039112"/>
            <a:ext cx="6035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1">
                <a:solidFill>
                  <a:srgbClr val="163300"/>
                </a:solidFill>
                <a:latin typeface="Calibri"/>
              </a:defRPr>
            </a:pPr>
            <a:r>
              <a:t>✓  Household Twin + Portfolio EWS + Merkle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96312"/>
            <a:ext cx="110642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69464"/>
            <a:ext cx="4572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74796C"/>
                </a:solidFill>
                <a:latin typeface="Calibri"/>
              </a:defRPr>
            </a:pPr>
            <a:r>
              <a:t>✗  Bureau score, no lag viz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569464"/>
            <a:ext cx="6035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1">
                <a:solidFill>
                  <a:srgbClr val="163300"/>
                </a:solidFill>
                <a:latin typeface="Calibri"/>
              </a:defRPr>
            </a:pPr>
            <a:r>
              <a:t>✓  Bureau flat 760 vs AA live -38% bar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26664"/>
            <a:ext cx="11064240" cy="438912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99816"/>
            <a:ext cx="4572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74796C"/>
                </a:solidFill>
                <a:latin typeface="Calibri"/>
              </a:defRPr>
            </a:pPr>
            <a:r>
              <a:t>✗  Advice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099816"/>
            <a:ext cx="6035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1">
                <a:solidFill>
                  <a:srgbClr val="163300"/>
                </a:solidFill>
                <a:latin typeface="Calibri"/>
              </a:defRPr>
            </a:pPr>
            <a:r>
              <a:t>✓  Action at payment: checkout + Pots alternative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57015"/>
            <a:ext cx="110642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30167"/>
            <a:ext cx="4572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74796C"/>
                </a:solidFill>
                <a:latin typeface="Calibri"/>
              </a:defRPr>
            </a:pPr>
            <a:r>
              <a:t>✗  No envelope, loan is only option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630167"/>
            <a:ext cx="6035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1">
                <a:solidFill>
                  <a:srgbClr val="163300"/>
                </a:solidFill>
                <a:latin typeface="Calibri"/>
              </a:defRPr>
            </a:pPr>
            <a:r>
              <a:t>✓  Income Firewall: sweep/release vs 36% loan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87368"/>
            <a:ext cx="11064240" cy="438912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60520"/>
            <a:ext cx="4572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74796C"/>
                </a:solidFill>
                <a:latin typeface="Calibri"/>
              </a:defRPr>
            </a:pPr>
            <a:r>
              <a:t>✗  Desktop only, clunky tabs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4160520"/>
            <a:ext cx="6035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1">
                <a:solidFill>
                  <a:srgbClr val="163300"/>
                </a:solidFill>
                <a:latin typeface="Calibri"/>
              </a:defRPr>
            </a:pPr>
            <a:r>
              <a:t>✓  Wise-grade mobile: bottom nav, spring, glass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17720"/>
            <a:ext cx="110642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690872"/>
            <a:ext cx="4572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74796C"/>
                </a:solidFill>
                <a:latin typeface="Calibri"/>
              </a:defRPr>
            </a:pPr>
            <a:r>
              <a:t>✗  Mock only, no real data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4690872"/>
            <a:ext cx="6035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1">
                <a:solidFill>
                  <a:srgbClr val="163300"/>
                </a:solidFill>
                <a:latin typeface="Calibri"/>
              </a:defRPr>
            </a:pPr>
            <a:r>
              <a:t>✓  SMS-to-Twin (any phone, 10 sec) + Setu live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63040" cy="256032"/>
          </a:xfrm>
          <a:prstGeom prst="roundRect">
            <a:avLst/>
          </a:prstGeom>
          <a:solidFill>
            <a:srgbClr val="EEF2E8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74796C"/>
                </a:solidFill>
                <a:latin typeface="Calibri"/>
              </a:defRPr>
            </a:pPr>
            <a:r>
              <a:t>15  •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6400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63300"/>
                </a:solidFill>
                <a:latin typeface="Calibri"/>
              </a:defRPr>
            </a:pPr>
            <a:r>
              <a:t>What’s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64008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5943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63300"/>
                </a:solidFill>
                <a:latin typeface="Calibri"/>
              </a:defRPr>
            </a:pPr>
            <a:r>
              <a:t>1.  Persist Pots/Family/OTP in Postgres (models ready)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56232"/>
            <a:ext cx="64008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5943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63300"/>
                </a:solidFill>
                <a:latin typeface="Calibri"/>
              </a:defRPr>
            </a:pPr>
            <a:r>
              <a:t>2.  Family deep-link page (/family) + AffordWidget component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03704"/>
            <a:ext cx="64008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9424"/>
            <a:ext cx="5943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63300"/>
                </a:solidFill>
                <a:latin typeface="Calibri"/>
              </a:defRPr>
            </a:pPr>
            <a:r>
              <a:t>3.  Rate limit (slowapi) + CSP/HSTS + secure cookies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51176"/>
            <a:ext cx="64008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96896"/>
            <a:ext cx="5943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63300"/>
                </a:solidFill>
                <a:latin typeface="Calibri"/>
              </a:defRPr>
            </a:pPr>
            <a:r>
              <a:t>4.  Setu Data Session: POST /consents/{id}/sessions for live FI pull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98648"/>
            <a:ext cx="64008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44368"/>
            <a:ext cx="5943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63300"/>
                </a:solidFill>
                <a:latin typeface="Calibri"/>
              </a:defRPr>
            </a:pPr>
            <a:r>
              <a:t>5.  Alembic migration + snapshot tests for afford/Twin math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508760"/>
            <a:ext cx="4297680" cy="3657600"/>
          </a:xfrm>
          <a:prstGeom prst="roundRect">
            <a:avLst/>
          </a:prstGeom>
          <a:solidFill>
            <a:srgbClr val="1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691640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8EF244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011680"/>
            <a:ext cx="3749039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If NIVA blocks 1k predatory loans / month</a:t>
            </a:r>
            <a:br/>
            <a:r>
              <a:t>→ ₹ 4Cr interest saved</a:t>
            </a:r>
            <a:br/>
            <a:r>
              <a:t>→ ~600 families avoid NPA</a:t>
            </a:r>
            <a:br/>
            <a:r>
              <a:t>→ household buffers build, not debt.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291840"/>
            <a:ext cx="374903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8EF244"/>
                </a:solidFill>
                <a:latin typeface="Calibri"/>
              </a:defRPr>
            </a:pPr>
            <a:r>
              <a:t>One-tap from phone to Twin.</a:t>
            </a:r>
            <a:br/>
            <a:r>
              <a:t>Deterministic. Explainable. Vernacular.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3840480"/>
            <a:ext cx="3749039" cy="457200"/>
          </a:xfrm>
          <a:prstGeom prst="roundRect">
            <a:avLst/>
          </a:prstGeom>
          <a:solidFill>
            <a:srgbClr val="8EF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931920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63300"/>
                </a:solidFill>
                <a:latin typeface="Calibri"/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